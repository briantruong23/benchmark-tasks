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90" r:id="rId6"/>
    <p:sldMasterId id="214748369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gpI9L5Iyd18+C1PlCExcyafIB/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7AC5D9-FD25-4CE3-AA65-13C9097B3F15}">
  <a:tblStyle styleId="{3E7AC5D9-FD25-4CE3-AA65-13C9097B3F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font" Target="fonts/UrbanistMedium-regular.fntdata"/><Relationship Id="rId21" Type="http://schemas.openxmlformats.org/officeDocument/2006/relationships/font" Target="fonts/UrbanistMedium-bold.fntdata"/><Relationship Id="rId22" Type="http://schemas.openxmlformats.org/officeDocument/2006/relationships/font" Target="fonts/UrbanistMedium-italic.fntdata"/><Relationship Id="rId23" Type="http://schemas.openxmlformats.org/officeDocument/2006/relationships/font" Target="fonts/UrbanistMedium-boldItalic.fntdata"/><Relationship Id="rId24" Type="http://schemas.openxmlformats.org/officeDocument/2006/relationships/font" Target="fonts/UrbanistSemiBold-regular.fntdata"/><Relationship Id="rId25" Type="http://schemas.openxmlformats.org/officeDocument/2006/relationships/font" Target="fonts/UrbanistSemiBold-bold.fntdata"/><Relationship Id="rId26" Type="http://schemas.openxmlformats.org/officeDocument/2006/relationships/font" Target="fonts/UrbanistSemiBold-italic.fntdata"/><Relationship Id="rId27" Type="http://schemas.openxmlformats.org/officeDocument/2006/relationships/font" Target="fonts/UrbanistSemiBold-boldItalic.fntdata"/><Relationship Id="rId28" Type="http://schemas.openxmlformats.org/officeDocument/2006/relationships/font" Target="fonts/Urbanist-regular.fntdata"/><Relationship Id="rId29" Type="http://schemas.openxmlformats.org/officeDocument/2006/relationships/font" Target="fonts/Urbanist-bold.fntdata"/><Relationship Id="rId30" Type="http://schemas.openxmlformats.org/officeDocument/2006/relationships/font" Target="fonts/Urbanist-italic.fntdata"/><Relationship Id="rId31" Type="http://schemas.openxmlformats.org/officeDocument/2006/relationships/font" Target="fonts/Urbanist-boldItalic.fntdata"/><Relationship Id="rId3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Dark Title - AU">
  <p:cSld name="01 - Dark Title - AU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descr="Click and type to edit master subtitle.&#10;" id="11" name="Google Shape;11;p13"/>
          <p:cNvSpPr txBox="1"/>
          <p:nvPr>
            <p:ph idx="1" type="subTitle"/>
          </p:nvPr>
        </p:nvSpPr>
        <p:spPr>
          <a:xfrm>
            <a:off x="1143000" y="2701528"/>
            <a:ext cx="68580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35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descr="Horizontal Version of Auburn University Logo."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5947" y="4328426"/>
            <a:ext cx="2092106" cy="429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 - Dark TY - AU">
  <p:cSld name="31 - Dark TY - AU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ctrTitle"/>
          </p:nvPr>
        </p:nvSpPr>
        <p:spPr>
          <a:xfrm>
            <a:off x="1143000" y="1081274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descr="Horizontal version of the Auburn University Logo." id="15" name="Google Shape;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5947" y="4328426"/>
            <a:ext cx="2092106" cy="429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8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8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" name="Google Shape;19;p18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" name="Google Shape;2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18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6" name="Google Shape;26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8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" name="Google Shape;29;p18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1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" name="Google Shape;36;p1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" name="Google Shape;38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9" name="Google Shape;3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" name="Google Shape;42;p20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" name="Google Shape;44;p2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" name="Google Shape;45;p2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" name="Google Shape;46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" name="Google Shape;47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" name="Google Shape;48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0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" name="Google Shape;50;p20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" name="Google Shape;51;p20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20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1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21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" name="Google Shape;62;p21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" name="Google Shape;63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5" name="Google Shape;65;p2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21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21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22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2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2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2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5" name="Google Shape;75;p2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7" name="Google Shape;77;p2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9" name="Google Shape;79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0" name="Google Shape;80;p22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81" name="Google Shape;81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3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" name="Google Shape;86;p2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" name="Google Shape;87;p23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8" name="Google Shape;88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3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2" name="Google Shape;92;p23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" name="Google Shape;93;p23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5" name="Google Shape;95;p23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24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" name="Google Shape;107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8" name="Google Shape;108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1" name="Google Shape;111;p24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2" name="Google Shape;112;p24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4" name="Google Shape;114;p24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5" name="Google Shape;115;p24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7" name="Google Shape;117;p24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8" name="Google Shape;118;p24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0" name="Google Shape;120;p24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21" name="Google Shape;121;p24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3" name="Google Shape;123;p24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24" name="Google Shape;124;p24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26" name="Google Shape;126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5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9pPr>
          </a:lstStyle>
          <a:p/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2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36" name="Google Shape;136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1" name="Google Shape;141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2" name="Google Shape;142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43" name="Google Shape;143;p26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4" name="Google Shape;144;p26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5" name="Google Shape;145;p26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6" name="Google Shape;146;p2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2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8" name="Google Shape;148;p26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9" name="Google Shape;149;p26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26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2" name="Google Shape;152;p26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3" name="Google Shape;153;p26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6" name="Google Shape;156;p26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7" name="Google Shape;157;p26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60" name="Google Shape;160;p26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61" name="Google Shape;161;p26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64" name="Google Shape;164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8" name="Google Shape;168;p27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7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0" name="Google Shape;170;p2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74" name="Google Shape;174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27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1" name="Google Shape;181;p28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82" name="Google Shape;182;p2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cxnSp>
        <p:nvCxnSpPr>
          <p:cNvPr id="187" name="Google Shape;187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9" name="Google Shape;199;p29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9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2" name="Google Shape;202;p29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3" name="Google Shape;203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4" name="Google Shape;204;p29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05" name="Google Shape;205;p29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29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7" name="Google Shape;207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11" name="Google Shape;211;p3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2" name="Google Shape;212;p3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3" name="Google Shape;213;p3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14" name="Google Shape;214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30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6" name="Google Shape;216;p30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30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8" name="Google Shape;218;p30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9" name="Google Shape;219;p30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30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1" name="Google Shape;221;p30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2" name="Google Shape;222;p30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4" name="Google Shape;224;p30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5" name="Google Shape;225;p30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7" name="Google Shape;227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1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3" name="Google Shape;23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5" name="Google Shape;235;p31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7" name="Google Shape;237;p31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4" name="Google Shape;244;p31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8" name="Google Shape;248;p31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3" name="Google Shape;253;p32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3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7" name="Google Shape;257;p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32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9pPr>
          </a:lstStyle>
          <a:p/>
        </p:txBody>
      </p:sp>
      <p:sp>
        <p:nvSpPr>
          <p:cNvPr id="259" name="Google Shape;259;p32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2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32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2" name="Google Shape;262;p32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9" name="Google Shape;269;p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33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4" name="Google Shape;274;p33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33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9" name="Google Shape;279;p33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33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33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33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83" name="Google Shape;283;p33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4" name="Google Shape;284;p33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5" name="Google Shape;285;p33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3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7" name="Google Shape;287;p33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8" name="Google Shape;288;p33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9" name="Google Shape;289;p33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0" name="Google Shape;290;p33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2" name="Google Shape;292;p33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7" name="Google Shape;297;p34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8" name="Google Shape;298;p34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9" name="Google Shape;299;p34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00" name="Google Shape;300;p34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34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02" name="Google Shape;302;p34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3" name="Google Shape;303;p34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4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5" name="Google Shape;305;p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34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8" name="Google Shape;308;p34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0" name="Google Shape;310;p34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1" name="Google Shape;311;p34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4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13" name="Google Shape;313;p34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14" name="Google Shape;314;p34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15" name="Google Shape;315;p34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6" name="Google Shape;316;p34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8" name="Google Shape;318;p34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9" name="Google Shape;319;p34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0" name="Google Shape;320;p34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7" name="Google Shape;327;p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0" name="Google Shape;330;p35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5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32" name="Google Shape;332;p35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4" name="Google Shape;334;p35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35" name="Google Shape;335;p35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36" name="Google Shape;336;p35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7" name="Google Shape;337;p35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8" name="Google Shape;338;p35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5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2" name="Google Shape;342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7" name="Google Shape;34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6" name="Google Shape;356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1" name="Google Shape;361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2" name="Google Shape;362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67" name="Google Shape;367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1" name="Google Shape;371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2" name="Google Shape;372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2" name="Google Shape;382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8" name="Google Shape;388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0" name="Google Shape;390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6" name="Google Shape;396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6" name="Google Shape;406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3" name="Google Shape;413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4" name="Google Shape;414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3" name="Google Shape;423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4" name="Google Shape;424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6" name="Google Shape;436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Text Only Slide">
  <p:cSld name="09 - Text Only Slide">
    <p:bg>
      <p:bgPr>
        <a:solidFill>
          <a:schemeClr val="dk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descr="Click to edit body copy text or select a content item. Content items available are: photo, infographic, video, table, and chart.&#10;&#10;" id="441" name="Google Shape;441;p15"/>
          <p:cNvSpPr txBox="1"/>
          <p:nvPr>
            <p:ph idx="1" type="body"/>
          </p:nvPr>
        </p:nvSpPr>
        <p:spPr>
          <a:xfrm>
            <a:off x="228600" y="1452125"/>
            <a:ext cx="5760600" cy="16383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350"/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350"/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350"/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35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442" name="Google Shape;442;p15"/>
          <p:cNvPicPr preferRelativeResize="0"/>
          <p:nvPr/>
        </p:nvPicPr>
        <p:blipFill rotWithShape="1">
          <a:blip r:embed="rId2">
            <a:alphaModFix amt="20000"/>
          </a:blip>
          <a:srcRect b="0" l="0" r="44607" t="0"/>
          <a:stretch/>
        </p:blipFill>
        <p:spPr>
          <a:xfrm>
            <a:off x="7883689" y="2310860"/>
            <a:ext cx="1260311" cy="283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Text Only Slide">
  <p:cSld name="09 - Text Only Slide">
    <p:bg>
      <p:bgPr>
        <a:solidFill>
          <a:schemeClr val="dk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descr="Click to edit body copy text or select a content item. Content items available are: photo, infographic, video, table, and chart.&#10;&#10;" id="449" name="Google Shape;449;p16"/>
          <p:cNvSpPr txBox="1"/>
          <p:nvPr>
            <p:ph idx="1" type="body"/>
          </p:nvPr>
        </p:nvSpPr>
        <p:spPr>
          <a:xfrm>
            <a:off x="228600" y="1452125"/>
            <a:ext cx="5760600" cy="16383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350"/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350"/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350"/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35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450" name="Google Shape;450;p16"/>
          <p:cNvPicPr preferRelativeResize="0"/>
          <p:nvPr/>
        </p:nvPicPr>
        <p:blipFill rotWithShape="1">
          <a:blip r:embed="rId2">
            <a:alphaModFix amt="20000"/>
          </a:blip>
          <a:srcRect b="0" l="0" r="44607" t="0"/>
          <a:stretch/>
        </p:blipFill>
        <p:spPr>
          <a:xfrm>
            <a:off x="7883689" y="2310860"/>
            <a:ext cx="1260311" cy="283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7" name="Google Shape;457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8" name="Google Shape;45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1" name="Google Shape;46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5" name="Google Shape;46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6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9" name="Google Shape;469;p6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6" name="Google Shape;476;p6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7" name="Google Shape;47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0" name="Google Shape;48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4" name="Google Shape;484;p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5" name="Google Shape;485;p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9" name="Google Shape;48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2" name="Google Shape;492;p6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b="0" i="0" sz="30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5" name="Google Shape;445;p14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b="0" i="0" sz="30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b="0" i="0" sz="3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6" name="Google Shape;446;p14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b="0" i="0" sz="12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3" name="Google Shape;45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I47lvbPQiDWlQpVH5n-Ovgu4V0adP8SL/view" TargetMode="External"/><Relationship Id="rId4" Type="http://schemas.openxmlformats.org/officeDocument/2006/relationships/image" Target="../media/image8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algn="ctr">
              <a:defRPr b="0" sz="3000">
                <a:solidFill>
                  <a:srgbClr val="FFFFFF"/>
                </a:solidFill>
                <a:latin typeface="Urbanist"/>
              </a:defRPr>
            </a:pPr>
            <a:r>
              <a:t>Computer-Use Benchmark Landscape</a:t>
            </a:r>
          </a:p>
        </p:txBody>
      </p:sp>
      <p:sp>
        <p:nvSpPr>
          <p:cNvPr id="501" name="Google Shape;501;p1"/>
          <p:cNvSpPr txBox="1"/>
          <p:nvPr>
            <p:ph idx="1" type="subTitle"/>
          </p:nvPr>
        </p:nvSpPr>
        <p:spPr>
          <a:xfrm>
            <a:off x="635000" y="2701528"/>
            <a:ext cx="78740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algn="ctr">
              <a:defRPr b="0" sz="1300">
                <a:solidFill>
                  <a:srgbClr val="FFFFFF"/>
                </a:solidFill>
                <a:latin typeface="Urbanist"/>
              </a:defRPr>
            </a:pPr>
            <a:r>
              <a:t>Domains, software and shared-canvas suitability  ·  October 2026</a:t>
            </a:r>
          </a:p>
        </p:txBody>
      </p:sp>
      <p:sp>
        <p:nvSpPr>
          <p:cNvPr id="502" name="Google Shape;502;p1"/>
          <p:cNvSpPr txBox="1"/>
          <p:nvPr/>
        </p:nvSpPr>
        <p:spPr>
          <a:xfrm>
            <a:off x="1143000" y="3048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>
              <a:defRPr b="1" sz="1100">
                <a:solidFill>
                  <a:srgbClr val="E87722"/>
                </a:solidFill>
                <a:latin typeface="Urbanist"/>
              </a:defRPr>
            </a:pPr>
            <a:r>
              <a:t>FINAL REPORT  ·  Benchmark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506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The landscape spans 13 benchmarks and 4,353 tasks</a:t>
            </a:r>
          </a:p>
        </p:txBody>
      </p:sp>
      <p:pic>
        <p:nvPicPr>
          <p:cNvPr id="508" name="Picture 507" descr="report-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1431804"/>
            <a:ext cx="5212080" cy="2951974"/>
          </a:xfrm>
          <a:prstGeom prst="rect">
            <a:avLst/>
          </a:prstGeom>
        </p:spPr>
      </p:pic>
      <p:sp>
        <p:nvSpPr>
          <p:cNvPr id="509" name="Rounded Rectangle 508"/>
          <p:cNvSpPr/>
          <p:nvPr/>
        </p:nvSpPr>
        <p:spPr>
          <a:xfrm>
            <a:off x="6099048" y="1325880"/>
            <a:ext cx="1051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6208776" y="1399032"/>
            <a:ext cx="832103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E87722"/>
                </a:solidFill>
                <a:latin typeface="Urbanist"/>
              </a:defRPr>
            </a:pPr>
            <a:r>
              <a:t>13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6208776" y="1764792"/>
            <a:ext cx="832103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19" b="1">
                <a:solidFill>
                  <a:srgbClr val="0C2340"/>
                </a:solidFill>
                <a:latin typeface="Urbanist"/>
              </a:defRPr>
            </a:pPr>
            <a:r>
              <a:t>benchmarks</a:t>
            </a:r>
          </a:p>
        </p:txBody>
      </p:sp>
      <p:sp>
        <p:nvSpPr>
          <p:cNvPr id="512" name="Rounded Rectangle 511"/>
          <p:cNvSpPr/>
          <p:nvPr/>
        </p:nvSpPr>
        <p:spPr>
          <a:xfrm>
            <a:off x="7296912" y="1325880"/>
            <a:ext cx="1188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512"/>
          <p:cNvSpPr txBox="1"/>
          <p:nvPr/>
        </p:nvSpPr>
        <p:spPr>
          <a:xfrm>
            <a:off x="7406640" y="1399032"/>
            <a:ext cx="96926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E87722"/>
                </a:solidFill>
                <a:latin typeface="Urbanist"/>
              </a:defRPr>
            </a:pPr>
            <a:r>
              <a:t>4,353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7406640" y="1764792"/>
            <a:ext cx="96926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19" b="1">
                <a:solidFill>
                  <a:srgbClr val="0C2340"/>
                </a:solidFill>
                <a:latin typeface="Urbanist"/>
              </a:defRPr>
            </a:pPr>
            <a:r>
              <a:t>tasks</a:t>
            </a:r>
          </a:p>
        </p:txBody>
      </p:sp>
      <p:sp>
        <p:nvSpPr>
          <p:cNvPr id="515" name="Rounded Rectangle 514"/>
          <p:cNvSpPr/>
          <p:nvPr/>
        </p:nvSpPr>
        <p:spPr>
          <a:xfrm>
            <a:off x="6099048" y="2331720"/>
            <a:ext cx="2386584" cy="2176272"/>
          </a:xfrm>
          <a:prstGeom prst="roundRect">
            <a:avLst/>
          </a:prstGeom>
          <a:solidFill>
            <a:srgbClr val="E8EFF6"/>
          </a:solidFill>
          <a:ln w="1016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WHY THIS 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C2340"/>
                </a:solidFill>
                <a:latin typeface="Urbanist"/>
              </a:defRPr>
            </a:pPr>
            <a:r>
              <a:t>Map domains and operation types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52525"/>
                </a:solidFill>
                <a:latin typeface="Urbanist"/>
              </a:defRPr>
            </a:pPr>
            <a:r>
              <a:t>Identify tasks that fit concurrent work on one shared artifact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52525"/>
                </a:solidFill>
                <a:latin typeface="Urbanist"/>
              </a:defRPr>
            </a:pPr>
            <a:r>
              <a:t>Design a benchmark spanning professional, creative, office, engineering and OS software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685800" y="4681728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Urbanist"/>
              </a:defRPr>
            </a:pPr>
            <a:r>
              <a:t>Source: updated Domains &amp; Tasks report, October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520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The catalog covers creative, office, engineering and desktop work</a:t>
            </a:r>
          </a:p>
        </p:txBody>
      </p:sp>
      <p:sp>
        <p:nvSpPr>
          <p:cNvPr id="522" name="Rectangle 521"/>
          <p:cNvSpPr/>
          <p:nvPr/>
        </p:nvSpPr>
        <p:spPr>
          <a:xfrm>
            <a:off x="713232" y="1316736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822960" y="1298448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PSBench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2057400" y="1298448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600 · Photoshop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3813048" y="1298448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24 High</a:t>
            </a:r>
          </a:p>
        </p:txBody>
      </p:sp>
      <p:sp>
        <p:nvSpPr>
          <p:cNvPr id="526" name="Rectangle 525"/>
          <p:cNvSpPr/>
          <p:nvPr/>
        </p:nvSpPr>
        <p:spPr>
          <a:xfrm>
            <a:off x="822960" y="1691639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713232" y="1792224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822960" y="1773936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CANVAS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2057400" y="1773936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598 · Figma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3813048" y="1773936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23 High</a:t>
            </a:r>
          </a:p>
        </p:txBody>
      </p:sp>
      <p:sp>
        <p:nvSpPr>
          <p:cNvPr id="531" name="Rectangle 530"/>
          <p:cNvSpPr/>
          <p:nvPr/>
        </p:nvSpPr>
        <p:spPr>
          <a:xfrm>
            <a:off x="822960" y="2167128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713232" y="2267712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822960" y="2249424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ProSoftArena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2057400" y="2249424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436 · 13 professional apps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3813048" y="2249424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78 High</a:t>
            </a:r>
          </a:p>
        </p:txBody>
      </p:sp>
      <p:sp>
        <p:nvSpPr>
          <p:cNvPr id="536" name="Rectangle 535"/>
          <p:cNvSpPr/>
          <p:nvPr/>
        </p:nvSpPr>
        <p:spPr>
          <a:xfrm>
            <a:off x="822960" y="2642616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713232" y="2743200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822960" y="2724912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GUIDE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2057400" y="2724912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40 · 10 creative/office apps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3813048" y="2724912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32 High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22960" y="3118104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713232" y="3218688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822960" y="3200400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PPT-Eval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057400" y="3200400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120 · PowerPoint Online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3813048" y="3200400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Reviewed</a:t>
            </a:r>
          </a:p>
        </p:txBody>
      </p:sp>
      <p:sp>
        <p:nvSpPr>
          <p:cNvPr id="546" name="Rectangle 545"/>
          <p:cNvSpPr/>
          <p:nvPr/>
        </p:nvSpPr>
        <p:spPr>
          <a:xfrm>
            <a:off x="822960" y="3593592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713232" y="3694175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22960" y="3675887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OSWorld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057400" y="3675887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369 · Ubuntu / LibreOffice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813048" y="3675887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14 High</a:t>
            </a:r>
          </a:p>
        </p:txBody>
      </p:sp>
      <p:sp>
        <p:nvSpPr>
          <p:cNvPr id="551" name="Rectangle 550"/>
          <p:cNvSpPr/>
          <p:nvPr/>
        </p:nvSpPr>
        <p:spPr>
          <a:xfrm>
            <a:off x="822960" y="4069079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713232" y="4169663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TextBox 552"/>
          <p:cNvSpPr txBox="1"/>
          <p:nvPr/>
        </p:nvSpPr>
        <p:spPr>
          <a:xfrm>
            <a:off x="822960" y="4151376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ScratchWorld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2057400" y="4151376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83 · MIT Scratch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3813048" y="4151376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6 High</a:t>
            </a:r>
          </a:p>
        </p:txBody>
      </p:sp>
      <p:sp>
        <p:nvSpPr>
          <p:cNvPr id="556" name="Rectangle 555"/>
          <p:cNvSpPr/>
          <p:nvPr/>
        </p:nvSpPr>
        <p:spPr>
          <a:xfrm>
            <a:off x="4873752" y="1316736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4983480" y="1298448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DeskCraft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6217920" y="1298448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538 · Linux creative tools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7973568" y="1298448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59 High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4983480" y="1691639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4873752" y="1792224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983480" y="1773936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DesignBench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6217920" y="1773936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900 · Web frameworks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73568" y="1773936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529 High</a:t>
            </a:r>
          </a:p>
        </p:txBody>
      </p:sp>
      <p:sp>
        <p:nvSpPr>
          <p:cNvPr id="565" name="Rectangle 564"/>
          <p:cNvSpPr/>
          <p:nvPr/>
        </p:nvSpPr>
        <p:spPr>
          <a:xfrm>
            <a:off x="4983480" y="2167128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4873752" y="2267712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4983480" y="2249424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ParaGUIBench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6217920" y="2249424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233 · Ubuntu / LibreOffice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73568" y="2249424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Not flagged</a:t>
            </a:r>
          </a:p>
        </p:txBody>
      </p:sp>
      <p:sp>
        <p:nvSpPr>
          <p:cNvPr id="570" name="Rectangle 569"/>
          <p:cNvSpPr/>
          <p:nvPr/>
        </p:nvSpPr>
        <p:spPr>
          <a:xfrm>
            <a:off x="4983480" y="2642616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4873752" y="2743200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TextBox 571"/>
          <p:cNvSpPr txBox="1"/>
          <p:nvPr/>
        </p:nvSpPr>
        <p:spPr>
          <a:xfrm>
            <a:off x="4983480" y="2724912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CADWorld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6217920" y="2724912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200 · FreeCAD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7973568" y="2724912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12 High</a:t>
            </a:r>
          </a:p>
        </p:txBody>
      </p:sp>
      <p:sp>
        <p:nvSpPr>
          <p:cNvPr id="575" name="Rectangle 574"/>
          <p:cNvSpPr/>
          <p:nvPr/>
        </p:nvSpPr>
        <p:spPr>
          <a:xfrm>
            <a:off x="4983480" y="3118104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4873752" y="3218688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4983480" y="3200400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CutVerse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6217920" y="3200400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186 · Media production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7973568" y="3200400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6 High</a:t>
            </a:r>
          </a:p>
        </p:txBody>
      </p:sp>
      <p:sp>
        <p:nvSpPr>
          <p:cNvPr id="580" name="Rectangle 579"/>
          <p:cNvSpPr/>
          <p:nvPr/>
        </p:nvSpPr>
        <p:spPr>
          <a:xfrm>
            <a:off x="4983480" y="3593592"/>
            <a:ext cx="3703320" cy="7315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4873752" y="3694175"/>
            <a:ext cx="41148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4983480" y="3675887"/>
            <a:ext cx="1207008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120" b="1">
                <a:solidFill>
                  <a:srgbClr val="0C2340"/>
                </a:solidFill>
                <a:latin typeface="Urbanist"/>
              </a:defRPr>
            </a:pPr>
            <a:r>
              <a:t>AutoCAD Bench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6217920" y="3675887"/>
            <a:ext cx="171907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252525"/>
                </a:solidFill>
                <a:latin typeface="Urbanist"/>
              </a:defRPr>
            </a:pPr>
            <a:r>
              <a:t>50 · AutoCAD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7973568" y="3675887"/>
            <a:ext cx="7132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  <a:defRPr sz="940" b="1">
                <a:solidFill>
                  <a:srgbClr val="E87722"/>
                </a:solidFill>
                <a:latin typeface="Urbanist"/>
              </a:defRPr>
            </a:pPr>
            <a:r>
              <a:t>1 Medium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713232" y="4718304"/>
            <a:ext cx="7680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Urbanist"/>
              </a:defRPr>
            </a:pPr>
            <a:r>
              <a:t>Shared-canvas column reports the source document’s classified 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TextBox 530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Shared-canvas work splits cleanly but still produces one artifact</a:t>
            </a:r>
          </a:p>
        </p:txBody>
      </p:sp>
      <p:sp>
        <p:nvSpPr>
          <p:cNvPr id="532" name="Rounded Rectangle 531"/>
          <p:cNvSpPr/>
          <p:nvPr/>
        </p:nvSpPr>
        <p:spPr>
          <a:xfrm>
            <a:off x="713232" y="1353312"/>
            <a:ext cx="3154680" cy="3154680"/>
          </a:xfrm>
          <a:prstGeom prst="roundRect">
            <a:avLst/>
          </a:prstGeom>
          <a:solidFill>
            <a:srgbClr val="0C2340"/>
          </a:solidFill>
          <a:ln w="1016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8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WORKING DEFINITION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Urbanist"/>
              </a:defRPr>
            </a:pPr>
            <a:r>
              <a:t>Different agents own clean regions of the same canvas and work concurrently.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Urbanist"/>
              </a:defRPr>
            </a:pPr>
            <a:r>
              <a:t>The result remains one coherent slide, design, image, document, project or timeline.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4160520" y="1353312"/>
            <a:ext cx="43159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C2340"/>
                </a:solidFill>
                <a:latin typeface="Urbanist"/>
              </a:defRPr>
            </a:pPr>
            <a:r>
              <a:t>Best-fit software</a:t>
            </a:r>
          </a:p>
        </p:txBody>
      </p:sp>
      <p:sp>
        <p:nvSpPr>
          <p:cNvPr id="534" name="Rectangle 533"/>
          <p:cNvSpPr/>
          <p:nvPr/>
        </p:nvSpPr>
        <p:spPr>
          <a:xfrm>
            <a:off x="4160520" y="1737360"/>
            <a:ext cx="4315968" cy="356616"/>
          </a:xfrm>
          <a:prstGeom prst="rect">
            <a:avLst/>
          </a:prstGeom>
          <a:solidFill>
            <a:srgbClr val="F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4251959" y="1787651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PPT-Eval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5394960" y="1787651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PowerPoint Online</a:t>
            </a:r>
          </a:p>
        </p:txBody>
      </p:sp>
      <p:sp>
        <p:nvSpPr>
          <p:cNvPr id="537" name="Rectangle 536"/>
          <p:cNvSpPr/>
          <p:nvPr/>
        </p:nvSpPr>
        <p:spPr>
          <a:xfrm>
            <a:off x="4160520" y="2130552"/>
            <a:ext cx="43159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4251959" y="2180844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CANVAS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5394960" y="2180844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Figma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4160520" y="2523744"/>
            <a:ext cx="4315968" cy="356616"/>
          </a:xfrm>
          <a:prstGeom prst="rect">
            <a:avLst/>
          </a:prstGeom>
          <a:solidFill>
            <a:srgbClr val="F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4251959" y="2574036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PSBench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5394960" y="2574036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Photoshop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4160520" y="2916936"/>
            <a:ext cx="43159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4251959" y="2967228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GUIDE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394960" y="2967228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Canva, Slides, Office, media</a:t>
            </a:r>
          </a:p>
        </p:txBody>
      </p:sp>
      <p:sp>
        <p:nvSpPr>
          <p:cNvPr id="546" name="Rectangle 545"/>
          <p:cNvSpPr/>
          <p:nvPr/>
        </p:nvSpPr>
        <p:spPr>
          <a:xfrm>
            <a:off x="4160520" y="3310128"/>
            <a:ext cx="4315968" cy="356616"/>
          </a:xfrm>
          <a:prstGeom prst="rect">
            <a:avLst/>
          </a:prstGeom>
          <a:solidFill>
            <a:srgbClr val="F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4251959" y="3360420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ProSoftArena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394960" y="3360420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Photoshop, Illustrator, CAD</a:t>
            </a:r>
          </a:p>
        </p:txBody>
      </p:sp>
      <p:sp>
        <p:nvSpPr>
          <p:cNvPr id="549" name="Rectangle 548"/>
          <p:cNvSpPr/>
          <p:nvPr/>
        </p:nvSpPr>
        <p:spPr>
          <a:xfrm>
            <a:off x="4160520" y="3703320"/>
            <a:ext cx="43159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TextBox 549"/>
          <p:cNvSpPr txBox="1"/>
          <p:nvPr/>
        </p:nvSpPr>
        <p:spPr>
          <a:xfrm>
            <a:off x="4251959" y="3753611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CutVerse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5394960" y="3753611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Premiere, AE, Resolve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4160520" y="4096512"/>
            <a:ext cx="4315968" cy="356616"/>
          </a:xfrm>
          <a:prstGeom prst="rect">
            <a:avLst/>
          </a:prstGeom>
          <a:solidFill>
            <a:srgbClr val="F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TextBox 552"/>
          <p:cNvSpPr txBox="1"/>
          <p:nvPr/>
        </p:nvSpPr>
        <p:spPr>
          <a:xfrm>
            <a:off x="4251959" y="4146804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DeskCraft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394960" y="4146804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GIMP, Inkscape, Kdenlive</a:t>
            </a:r>
          </a:p>
        </p:txBody>
      </p:sp>
      <p:sp>
        <p:nvSpPr>
          <p:cNvPr id="555" name="Rectangle 554"/>
          <p:cNvSpPr/>
          <p:nvPr/>
        </p:nvSpPr>
        <p:spPr>
          <a:xfrm>
            <a:off x="4160520" y="4489704"/>
            <a:ext cx="43159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251959" y="4539996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C2340"/>
                </a:solidFill>
                <a:latin typeface="Urbanist"/>
              </a:defRPr>
            </a:pPr>
            <a:r>
              <a:t>DesignBench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5394960" y="4539996"/>
            <a:ext cx="29443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252525"/>
                </a:solidFill>
                <a:latin typeface="Urbanist"/>
              </a:defRPr>
            </a:pPr>
            <a:r>
              <a:t>React, Vue, Angular, HTML/CSS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Box 539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PPT-Eval divides naturally by slide region and diagram component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713232" y="1234440"/>
            <a:ext cx="397763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TASK 1  ·  COMBINE SLIDES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713232" y="1481328"/>
            <a:ext cx="3977639" cy="5852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C2340"/>
                </a:solidFill>
                <a:latin typeface="Urbanist"/>
              </a:defRPr>
            </a:pPr>
            <a:r>
              <a:t>Combine slides 2 and 3 into one new slide with male and female clothing tables and both images.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731520" y="2139696"/>
            <a:ext cx="1847088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4" name="Picture 543" descr="report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45567"/>
            <a:ext cx="1847088" cy="1359856"/>
          </a:xfrm>
          <a:prstGeom prst="rect">
            <a:avLst/>
          </a:prstGeom>
        </p:spPr>
      </p:pic>
      <p:sp>
        <p:nvSpPr>
          <p:cNvPr id="545" name="Rectangle 544"/>
          <p:cNvSpPr/>
          <p:nvPr/>
        </p:nvSpPr>
        <p:spPr>
          <a:xfrm>
            <a:off x="2670048" y="2139696"/>
            <a:ext cx="1938528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6" name="Picture 545" descr="report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5029" y="2139696"/>
            <a:ext cx="1928564" cy="1371599"/>
          </a:xfrm>
          <a:prstGeom prst="rect">
            <a:avLst/>
          </a:prstGeom>
        </p:spPr>
      </p:pic>
      <p:sp>
        <p:nvSpPr>
          <p:cNvPr id="547" name="Rounded Rectangle 546"/>
          <p:cNvSpPr/>
          <p:nvPr/>
        </p:nvSpPr>
        <p:spPr>
          <a:xfrm>
            <a:off x="731520" y="3675887"/>
            <a:ext cx="3877056" cy="868680"/>
          </a:xfrm>
          <a:prstGeom prst="roundRect">
            <a:avLst/>
          </a:prstGeom>
          <a:solidFill>
            <a:srgbClr val="E8EFF6"/>
          </a:solidFill>
          <a:ln w="1016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Agent 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0C2340"/>
                </a:solidFill>
                <a:latin typeface="Urbanist"/>
              </a:defRPr>
            </a:pPr>
            <a:r>
              <a:t>Male clothing table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Agent 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0C2340"/>
                </a:solidFill>
                <a:latin typeface="Urbanist"/>
              </a:defRPr>
            </a:pPr>
            <a:r>
              <a:t>Female clothing table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892040" y="1234440"/>
            <a:ext cx="35204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TASK 2  ·  REBUILD A FLOWCHART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892040" y="1481328"/>
            <a:ext cx="352044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C2340"/>
                </a:solidFill>
                <a:latin typeface="Urbanist"/>
              </a:defRPr>
            </a:pPr>
            <a:r>
              <a:t>Replace the slide 11 diagram with: Browser → HTTP Request → Web Server → HTTP Response → Browser.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4919472" y="2240280"/>
            <a:ext cx="349300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1" name="Picture 550" descr="report-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3665" y="2240280"/>
            <a:ext cx="2544620" cy="1901952"/>
          </a:xfrm>
          <a:prstGeom prst="rect">
            <a:avLst/>
          </a:prstGeom>
        </p:spPr>
      </p:pic>
      <p:sp>
        <p:nvSpPr>
          <p:cNvPr id="552" name="TextBox 551"/>
          <p:cNvSpPr txBox="1"/>
          <p:nvPr/>
        </p:nvSpPr>
        <p:spPr>
          <a:xfrm>
            <a:off x="4919472" y="4261104"/>
            <a:ext cx="34930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52525"/>
                </a:solidFill>
                <a:latin typeface="Urbanist"/>
              </a:defRPr>
            </a:pPr>
            <a:r>
              <a:t>Five components can be built concurrently, then aligned as one flow.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extBox 545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CANVAS exposes independent UI components on one Figma screen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713232" y="126187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7722"/>
                </a:solidFill>
                <a:latin typeface="Urbanist"/>
              </a:defRPr>
            </a:pPr>
            <a:r>
              <a:t>01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1225296" y="1261872"/>
            <a:ext cx="17922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C2340"/>
                </a:solidFill>
                <a:latin typeface="Urbanist"/>
              </a:defRPr>
            </a:pPr>
            <a:r>
              <a:t>Contact list recolor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225296" y="1572768"/>
            <a:ext cx="179222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252525"/>
                </a:solidFill>
                <a:latin typeface="Urbanist"/>
              </a:defRPr>
            </a:pPr>
            <a:r>
              <a:t>Change minus buttons and missed-call names from green to red.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225296" y="2194560"/>
            <a:ext cx="179222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Urbanist"/>
              </a:defRPr>
            </a:pPr>
            <a:r>
              <a:t>Buttons and contact names can be owned separately.</a:t>
            </a:r>
          </a:p>
        </p:txBody>
      </p:sp>
      <p:sp>
        <p:nvSpPr>
          <p:cNvPr id="551" name="Rectangle 550"/>
          <p:cNvSpPr/>
          <p:nvPr/>
        </p:nvSpPr>
        <p:spPr>
          <a:xfrm>
            <a:off x="3273552" y="1261872"/>
            <a:ext cx="1874519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2" name="Picture 551" descr="report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202" y="1261872"/>
            <a:ext cx="667219" cy="1444752"/>
          </a:xfrm>
          <a:prstGeom prst="rect">
            <a:avLst/>
          </a:prstGeom>
        </p:spPr>
      </p:pic>
      <p:sp>
        <p:nvSpPr>
          <p:cNvPr id="553" name="Rectangle 552"/>
          <p:cNvSpPr/>
          <p:nvPr/>
        </p:nvSpPr>
        <p:spPr>
          <a:xfrm>
            <a:off x="5276088" y="1261872"/>
            <a:ext cx="1874519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4" name="Picture 553" descr="report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738" y="1261872"/>
            <a:ext cx="667219" cy="1444752"/>
          </a:xfrm>
          <a:prstGeom prst="rect">
            <a:avLst/>
          </a:prstGeom>
        </p:spPr>
      </p:pic>
      <p:sp>
        <p:nvSpPr>
          <p:cNvPr id="555" name="TextBox 554"/>
          <p:cNvSpPr txBox="1"/>
          <p:nvPr/>
        </p:nvSpPr>
        <p:spPr>
          <a:xfrm>
            <a:off x="3273552" y="2734056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STARTING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5276088" y="2734056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TARGET</a:t>
            </a:r>
          </a:p>
        </p:txBody>
      </p:sp>
      <p:sp>
        <p:nvSpPr>
          <p:cNvPr id="557" name="Rounded Rectangle 556"/>
          <p:cNvSpPr/>
          <p:nvPr/>
        </p:nvSpPr>
        <p:spPr>
          <a:xfrm>
            <a:off x="7360920" y="1261872"/>
            <a:ext cx="1078992" cy="1444752"/>
          </a:xfrm>
          <a:prstGeom prst="roundRect">
            <a:avLst/>
          </a:prstGeom>
          <a:solidFill>
            <a:srgbClr val="FDEEE2"/>
          </a:solidFill>
          <a:ln w="10160">
            <a:solidFill>
              <a:srgbClr val="FD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>
                <a:solidFill>
                  <a:srgbClr val="E87722"/>
                </a:solidFill>
                <a:latin typeface="Urbanist"/>
              </a:defRPr>
            </a:pPr>
            <a:r>
              <a:t>Shared artifact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C2340"/>
                </a:solidFill>
                <a:latin typeface="Urbanist"/>
              </a:defRPr>
            </a:pPr>
            <a:r>
              <a:t>One Figma screen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713232" y="3017520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7722"/>
                </a:solidFill>
                <a:latin typeface="Urbanist"/>
              </a:defRPr>
            </a:pPr>
            <a:r>
              <a:t>02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225296" y="3017520"/>
            <a:ext cx="17922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C2340"/>
                </a:solidFill>
                <a:latin typeface="Urbanist"/>
              </a:defRPr>
            </a:pPr>
            <a:r>
              <a:t>Commerce UI recolor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225296" y="3328415"/>
            <a:ext cx="179222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252525"/>
                </a:solidFill>
                <a:latin typeface="Urbanist"/>
              </a:defRPr>
            </a:pPr>
            <a:r>
              <a:t>Change Shop, forward arrows and bottom navigation from pink to blue.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225296" y="3950208"/>
            <a:ext cx="179222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Urbanist"/>
              </a:defRPr>
            </a:pPr>
            <a:r>
              <a:t>Button, arrows and navigation icons can change in parallel.</a:t>
            </a:r>
          </a:p>
        </p:txBody>
      </p:sp>
      <p:sp>
        <p:nvSpPr>
          <p:cNvPr id="562" name="Rectangle 561"/>
          <p:cNvSpPr/>
          <p:nvPr/>
        </p:nvSpPr>
        <p:spPr>
          <a:xfrm>
            <a:off x="3273552" y="3017520"/>
            <a:ext cx="1874519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3" name="Picture 562" descr="report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202" y="3017520"/>
            <a:ext cx="667219" cy="1444752"/>
          </a:xfrm>
          <a:prstGeom prst="rect">
            <a:avLst/>
          </a:prstGeom>
        </p:spPr>
      </p:pic>
      <p:sp>
        <p:nvSpPr>
          <p:cNvPr id="564" name="Rectangle 563"/>
          <p:cNvSpPr/>
          <p:nvPr/>
        </p:nvSpPr>
        <p:spPr>
          <a:xfrm>
            <a:off x="5276088" y="3017520"/>
            <a:ext cx="1874519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5" name="Picture 564" descr="report-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738" y="3017520"/>
            <a:ext cx="667219" cy="1444752"/>
          </a:xfrm>
          <a:prstGeom prst="rect">
            <a:avLst/>
          </a:prstGeom>
        </p:spPr>
      </p:pic>
      <p:sp>
        <p:nvSpPr>
          <p:cNvPr id="566" name="TextBox 565"/>
          <p:cNvSpPr txBox="1"/>
          <p:nvPr/>
        </p:nvSpPr>
        <p:spPr>
          <a:xfrm>
            <a:off x="3273552" y="4489704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STARTING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5276088" y="4489704"/>
            <a:ext cx="187451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TARGET</a:t>
            </a:r>
          </a:p>
        </p:txBody>
      </p:sp>
      <p:sp>
        <p:nvSpPr>
          <p:cNvPr id="568" name="Rounded Rectangle 567"/>
          <p:cNvSpPr/>
          <p:nvPr/>
        </p:nvSpPr>
        <p:spPr>
          <a:xfrm>
            <a:off x="7360920" y="3017520"/>
            <a:ext cx="1078992" cy="1444752"/>
          </a:xfrm>
          <a:prstGeom prst="roundRect">
            <a:avLst/>
          </a:prstGeom>
          <a:solidFill>
            <a:srgbClr val="FDEEE2"/>
          </a:solidFill>
          <a:ln w="10160">
            <a:solidFill>
              <a:srgbClr val="FD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>
                <a:solidFill>
                  <a:srgbClr val="E87722"/>
                </a:solidFill>
                <a:latin typeface="Urbanist"/>
              </a:defRPr>
            </a:pPr>
            <a:r>
              <a:t>Shared artifact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C2340"/>
                </a:solidFill>
                <a:latin typeface="Urbanist"/>
              </a:defRPr>
            </a:pPr>
            <a:r>
              <a:t>One Figma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Box 552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PSBench separates subject treatment from background treatment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713232" y="1243584"/>
            <a:ext cx="380390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C2340"/>
                </a:solidFill>
                <a:latin typeface="Urbanist"/>
              </a:defRPr>
            </a:pPr>
            <a:r>
              <a:t>01  Luminous flowers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713232" y="1554480"/>
            <a:ext cx="3803904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252525"/>
                </a:solidFill>
                <a:latin typeface="Urbanist"/>
              </a:defRPr>
            </a:pPr>
            <a:r>
              <a:t>Keep flowers vivid and glowing while converting the surrounding scene to black and white.</a:t>
            </a:r>
          </a:p>
        </p:txBody>
      </p:sp>
      <p:sp>
        <p:nvSpPr>
          <p:cNvPr id="556" name="Rectangle 555"/>
          <p:cNvSpPr/>
          <p:nvPr/>
        </p:nvSpPr>
        <p:spPr>
          <a:xfrm>
            <a:off x="713232" y="2194560"/>
            <a:ext cx="1810512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7" name="Picture 556" descr="report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65" y="2194560"/>
            <a:ext cx="921444" cy="1389888"/>
          </a:xfrm>
          <a:prstGeom prst="rect">
            <a:avLst/>
          </a:prstGeom>
        </p:spPr>
      </p:pic>
      <p:sp>
        <p:nvSpPr>
          <p:cNvPr id="558" name="Rectangle 557"/>
          <p:cNvSpPr/>
          <p:nvPr/>
        </p:nvSpPr>
        <p:spPr>
          <a:xfrm>
            <a:off x="2688336" y="2194560"/>
            <a:ext cx="1810512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9" name="Picture 558" descr="report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869" y="2194560"/>
            <a:ext cx="921444" cy="1389888"/>
          </a:xfrm>
          <a:prstGeom prst="rect">
            <a:avLst/>
          </a:prstGeom>
        </p:spPr>
      </p:pic>
      <p:sp>
        <p:nvSpPr>
          <p:cNvPr id="560" name="TextBox 559"/>
          <p:cNvSpPr txBox="1"/>
          <p:nvPr/>
        </p:nvSpPr>
        <p:spPr>
          <a:xfrm>
            <a:off x="713232" y="3611880"/>
            <a:ext cx="18105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STARTING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2688336" y="3611880"/>
            <a:ext cx="18105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TARGET</a:t>
            </a:r>
          </a:p>
        </p:txBody>
      </p:sp>
      <p:sp>
        <p:nvSpPr>
          <p:cNvPr id="562" name="Rounded Rectangle 561"/>
          <p:cNvSpPr/>
          <p:nvPr/>
        </p:nvSpPr>
        <p:spPr>
          <a:xfrm>
            <a:off x="713232" y="3913632"/>
            <a:ext cx="3785615" cy="640080"/>
          </a:xfrm>
          <a:prstGeom prst="roundRect">
            <a:avLst/>
          </a:prstGeom>
          <a:solidFill>
            <a:srgbClr val="E8EFF6"/>
          </a:solidFill>
          <a:ln w="1016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A  Flowers and glow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B  Monochrome scene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4837176" y="1243584"/>
            <a:ext cx="380390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C2340"/>
                </a:solidFill>
                <a:latin typeface="Urbanist"/>
              </a:defRPr>
            </a:pPr>
            <a:r>
              <a:t>02  Sharp tree, blurred background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4837176" y="1554480"/>
            <a:ext cx="3803904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252525"/>
                </a:solidFill>
                <a:latin typeface="Urbanist"/>
              </a:defRPr>
            </a:pPr>
            <a:r>
              <a:t>Keep the tree sharp and dark blue-black; make the background grayscale with strong Gaussian blur.</a:t>
            </a:r>
          </a:p>
        </p:txBody>
      </p:sp>
      <p:sp>
        <p:nvSpPr>
          <p:cNvPr id="565" name="Rectangle 564"/>
          <p:cNvSpPr/>
          <p:nvPr/>
        </p:nvSpPr>
        <p:spPr>
          <a:xfrm>
            <a:off x="4837176" y="2194560"/>
            <a:ext cx="1810512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6" name="Picture 565" descr="report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2324839"/>
            <a:ext cx="1810512" cy="1129329"/>
          </a:xfrm>
          <a:prstGeom prst="rect">
            <a:avLst/>
          </a:prstGeom>
        </p:spPr>
      </p:pic>
      <p:sp>
        <p:nvSpPr>
          <p:cNvPr id="567" name="Rectangle 566"/>
          <p:cNvSpPr/>
          <p:nvPr/>
        </p:nvSpPr>
        <p:spPr>
          <a:xfrm>
            <a:off x="6812280" y="2194560"/>
            <a:ext cx="1810512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8" name="Picture 567" descr="report-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324839"/>
            <a:ext cx="1810512" cy="1129329"/>
          </a:xfrm>
          <a:prstGeom prst="rect">
            <a:avLst/>
          </a:prstGeom>
        </p:spPr>
      </p:pic>
      <p:sp>
        <p:nvSpPr>
          <p:cNvPr id="569" name="TextBox 568"/>
          <p:cNvSpPr txBox="1"/>
          <p:nvPr/>
        </p:nvSpPr>
        <p:spPr>
          <a:xfrm>
            <a:off x="4837176" y="3611880"/>
            <a:ext cx="18105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STARTING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6812280" y="3611880"/>
            <a:ext cx="18105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B6B6B"/>
                </a:solidFill>
                <a:latin typeface="Urbanist"/>
              </a:defRPr>
            </a:pPr>
            <a:r>
              <a:t>TARGET</a:t>
            </a:r>
          </a:p>
        </p:txBody>
      </p:sp>
      <p:sp>
        <p:nvSpPr>
          <p:cNvPr id="571" name="Rounded Rectangle 570"/>
          <p:cNvSpPr/>
          <p:nvPr/>
        </p:nvSpPr>
        <p:spPr>
          <a:xfrm>
            <a:off x="4837176" y="3913632"/>
            <a:ext cx="3785615" cy="640080"/>
          </a:xfrm>
          <a:prstGeom prst="roundRect">
            <a:avLst/>
          </a:prstGeom>
          <a:solidFill>
            <a:srgbClr val="E8EFF6"/>
          </a:solidFill>
          <a:ln w="1016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A  Foreground tree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B  Background treatment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Box 563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ScratchWorld and ProSoftArena split work by module or document region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13232" y="1234440"/>
            <a:ext cx="37947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SCRATCHWORLD</a:t>
            </a:r>
          </a:p>
        </p:txBody>
      </p:sp>
      <p:sp>
        <p:nvSpPr>
          <p:cNvPr id="566" name="Rounded Rectangle 565"/>
          <p:cNvSpPr/>
          <p:nvPr/>
        </p:nvSpPr>
        <p:spPr>
          <a:xfrm>
            <a:off x="713232" y="1536192"/>
            <a:ext cx="37947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C2340"/>
                </a:solidFill>
                <a:latin typeface="Urbanist"/>
              </a:defRPr>
            </a:pPr>
            <a:r>
              <a:t>Maze timer and scoring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52525"/>
                </a:solidFill>
                <a:latin typeface="Urbanist"/>
              </a:defRPr>
            </a:pPr>
            <a:r>
              <a:t>Add timeLeft and score; enforce countdown, wall penalties and a +50 goal bonus.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980" b="1">
                <a:solidFill>
                  <a:srgbClr val="0C2340"/>
                </a:solidFill>
                <a:latin typeface="Urbanist"/>
              </a:defRPr>
            </a:pPr>
            <a:r>
              <a:t>A  Stage — initialize and enforce timeout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80" b="1">
                <a:solidFill>
                  <a:srgbClr val="0C2340"/>
                </a:solidFill>
                <a:latin typeface="Urbanist"/>
              </a:defRPr>
            </a:pPr>
            <a:r>
              <a:t>B  Ball — wall-contact penalties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80" b="1">
                <a:solidFill>
                  <a:srgbClr val="0C2340"/>
                </a:solidFill>
                <a:latin typeface="Urbanist"/>
              </a:defRPr>
            </a:pPr>
            <a:r>
              <a:t>C  Goal — award bonus and stop timer</a:t>
            </a:r>
          </a:p>
        </p:txBody>
      </p:sp>
      <p:sp>
        <p:nvSpPr>
          <p:cNvPr id="567" name="Rounded Rectangle 566"/>
          <p:cNvSpPr/>
          <p:nvPr/>
        </p:nvSpPr>
        <p:spPr>
          <a:xfrm>
            <a:off x="713232" y="3090672"/>
            <a:ext cx="37947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C2340"/>
                </a:solidFill>
                <a:latin typeface="Urbanist"/>
              </a:defRPr>
            </a:pPr>
            <a:r>
              <a:t>Voltage-aware circuit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52525"/>
                </a:solidFill>
                <a:latin typeface="Urbanist"/>
              </a:defRPr>
            </a:pPr>
            <a:r>
              <a:t>Cycle a Battery between 3V and 6V and map voltage to Lightbulb brightness when the circuit is complete and ON.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980" b="1">
                <a:solidFill>
                  <a:srgbClr val="0C2340"/>
                </a:solidFill>
                <a:latin typeface="Urbanist"/>
              </a:defRPr>
            </a:pPr>
            <a:r>
              <a:t>A  Battery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80" b="1">
                <a:solidFill>
                  <a:srgbClr val="0C2340"/>
                </a:solidFill>
                <a:latin typeface="Urbanist"/>
              </a:defRPr>
            </a:pPr>
            <a:r>
              <a:t>B  Lightbulb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80" b="1">
                <a:solidFill>
                  <a:srgbClr val="0C2340"/>
                </a:solidFill>
                <a:latin typeface="Urbanist"/>
              </a:defRPr>
            </a:pPr>
            <a:r>
              <a:t>C  Circuit integration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4773168" y="1234440"/>
            <a:ext cx="3703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PROSOFTARENA</a:t>
            </a:r>
          </a:p>
        </p:txBody>
      </p:sp>
      <p:sp>
        <p:nvSpPr>
          <p:cNvPr id="569" name="Rounded Rectangle 568"/>
          <p:cNvSpPr/>
          <p:nvPr/>
        </p:nvSpPr>
        <p:spPr>
          <a:xfrm>
            <a:off x="4773168" y="1536192"/>
            <a:ext cx="3703320" cy="1883664"/>
          </a:xfrm>
          <a:prstGeom prst="roundRect">
            <a:avLst/>
          </a:prstGeom>
          <a:solidFill>
            <a:srgbClr val="FDEEE2"/>
          </a:solidFill>
          <a:ln w="10160">
            <a:solidFill>
              <a:srgbClr val="FD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E87722"/>
                </a:solidFill>
                <a:latin typeface="Urbanist"/>
              </a:defRPr>
            </a:pPr>
            <a:r>
              <a:t>Microsoft Excel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C2340"/>
                </a:solidFill>
                <a:latin typeface="Urbanist"/>
              </a:defRPr>
            </a:pPr>
            <a:r>
              <a:t>Build a PivotTable summarizing revenue by quarter and product, then add a slicer.</a:t>
            </a:r>
          </a:p>
          <a:p>
            <a:pPr algn="l">
              <a:spcBef>
                <a:spcPts val="70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A  Quarter 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B  Product dimension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C2340"/>
                </a:solidFill>
                <a:latin typeface="Urbanist"/>
              </a:defRPr>
            </a:pPr>
            <a:r>
              <a:t>C  Slicer</a:t>
            </a:r>
          </a:p>
        </p:txBody>
      </p:sp>
      <p:sp>
        <p:nvSpPr>
          <p:cNvPr id="570" name="Rounded Rectangle 569"/>
          <p:cNvSpPr/>
          <p:nvPr/>
        </p:nvSpPr>
        <p:spPr>
          <a:xfrm>
            <a:off x="4773168" y="3566160"/>
            <a:ext cx="3703320" cy="941832"/>
          </a:xfrm>
          <a:prstGeom prst="roundRect">
            <a:avLst/>
          </a:prstGeom>
          <a:solidFill>
            <a:srgbClr val="E8EFF6"/>
          </a:solidFill>
          <a:ln w="1016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E87722"/>
                </a:solidFill>
                <a:latin typeface="Urbanist"/>
              </a:defRPr>
            </a:pPr>
            <a:r>
              <a:t>Adobe Illustrator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C2340"/>
                </a:solidFill>
                <a:latin typeface="Urbanist"/>
              </a:defRPr>
            </a:pPr>
            <a:r>
              <a:t>Design a three-icon brand pictogram set for a sustainable coffee shop.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extBox 570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OSWorld assigns independent worksheet or slide regions</a:t>
            </a:r>
          </a:p>
        </p:txBody>
      </p:sp>
      <p:sp>
        <p:nvSpPr>
          <p:cNvPr id="572" name="Rounded Rectangle 571"/>
          <p:cNvSpPr/>
          <p:nvPr/>
        </p:nvSpPr>
        <p:spPr>
          <a:xfrm>
            <a:off x="713232" y="1298448"/>
            <a:ext cx="3767328" cy="3154680"/>
          </a:xfrm>
          <a:prstGeom prst="roundRect">
            <a:avLst/>
          </a:prstGeom>
          <a:solidFill>
            <a:srgbClr val="E8EFF6"/>
          </a:solidFill>
          <a:ln w="1016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LIBREOFFICE CALC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1600" b="1">
                <a:solidFill>
                  <a:srgbClr val="0C2340"/>
                </a:solidFill>
                <a:latin typeface="Urbanist"/>
              </a:defRPr>
            </a:pPr>
            <a:r>
              <a:t>Create separate monthly-cost column charts for 2019 and 2020.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Agent 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252525"/>
                </a:solidFill>
                <a:latin typeface="Urbanist"/>
              </a:defRPr>
            </a:pPr>
            <a:r>
              <a:t>2019 table and chart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Agent 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252525"/>
                </a:solidFill>
                <a:latin typeface="Urbanist"/>
              </a:defRPr>
            </a:pPr>
            <a:r>
              <a:t>2020 table and chart</a:t>
            </a:r>
          </a:p>
        </p:txBody>
      </p:sp>
      <p:sp>
        <p:nvSpPr>
          <p:cNvPr id="573" name="Rounded Rectangle 572"/>
          <p:cNvSpPr/>
          <p:nvPr/>
        </p:nvSpPr>
        <p:spPr>
          <a:xfrm>
            <a:off x="4727448" y="1298448"/>
            <a:ext cx="3767328" cy="3154680"/>
          </a:xfrm>
          <a:prstGeom prst="roundRect">
            <a:avLst/>
          </a:prstGeom>
          <a:solidFill>
            <a:srgbClr val="FDEEE2"/>
          </a:solidFill>
          <a:ln w="10160">
            <a:solidFill>
              <a:srgbClr val="FD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LIBREOFFICE IMPRESS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1600" b="1">
                <a:solidFill>
                  <a:srgbClr val="0C2340"/>
                </a:solidFill>
                <a:latin typeface="Urbanist"/>
              </a:defRPr>
            </a:pPr>
            <a:r>
              <a:t>Set the three slide-1 textboxes to yellow, red and green from top to bottom.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252525"/>
                </a:solidFill>
                <a:latin typeface="Urbanist"/>
              </a:defRPr>
            </a:pPr>
            <a:r>
              <a:t>Agent A  Top textbox — yellow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252525"/>
                </a:solidFill>
                <a:latin typeface="Urbanist"/>
              </a:defRPr>
            </a:pPr>
            <a:r>
              <a:t>Agent B  Middle textbox — red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252525"/>
                </a:solidFill>
                <a:latin typeface="Urbanist"/>
              </a:defRPr>
            </a:pPr>
            <a:r>
              <a:t>Agent C  Bottom textbox — green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713232" y="4599432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6B6B"/>
                </a:solidFill>
                <a:latin typeface="Urbanist"/>
              </a:defRPr>
            </a:pPr>
            <a:r>
              <a:t>One file, multiple clean regions, one integrated deliverable.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extBox 582"/>
          <p:cNvSpPr txBox="1"/>
          <p:nvPr/>
        </p:nvSpPr>
        <p:spPr>
          <a:xfrm>
            <a:off x="630936" y="2743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52525"/>
                </a:solidFill>
                <a:latin typeface="Urbanist"/>
              </a:defRPr>
            </a:pPr>
            <a:r>
              <a:t>Four constraints shape the rollout—and three actions come next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713232" y="1261872"/>
            <a:ext cx="3730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MAIN CONCERNS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713232" y="1572768"/>
            <a:ext cx="365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E87722"/>
                </a:solidFill>
                <a:latin typeface="Urbanist"/>
              </a:defRPr>
            </a:pPr>
            <a:r>
              <a:t>01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1133856" y="1572768"/>
            <a:ext cx="10789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0C2340"/>
                </a:solidFill>
                <a:latin typeface="Urbanist"/>
              </a:defRPr>
            </a:pPr>
            <a:r>
              <a:t>Licensing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2185416" y="1572768"/>
            <a:ext cx="222199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60" b="0">
                <a:solidFill>
                  <a:srgbClr val="252525"/>
                </a:solidFill>
                <a:latin typeface="Urbanist"/>
              </a:defRPr>
            </a:pPr>
            <a:r>
              <a:t>Commercial apps make execution and verification hard to scale.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713232" y="2258568"/>
            <a:ext cx="365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E87722"/>
                </a:solidFill>
                <a:latin typeface="Urbanist"/>
              </a:defRPr>
            </a:pPr>
            <a:r>
              <a:t>02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1133856" y="2258568"/>
            <a:ext cx="10789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0C2340"/>
                </a:solidFill>
                <a:latin typeface="Urbanist"/>
              </a:defRPr>
            </a:pPr>
            <a:r>
              <a:t>Taxonomy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2185416" y="2258568"/>
            <a:ext cx="222199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60" b="0">
                <a:solidFill>
                  <a:srgbClr val="252525"/>
                </a:solidFill>
                <a:latin typeface="Urbanist"/>
              </a:defRPr>
            </a:pPr>
            <a:r>
              <a:t>Benchmarks use incompatible labels for task and operation types.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713232" y="2944368"/>
            <a:ext cx="365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E87722"/>
                </a:solidFill>
                <a:latin typeface="Urbanist"/>
              </a:defRPr>
            </a:pPr>
            <a:r>
              <a:t>03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1133856" y="2944368"/>
            <a:ext cx="10789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0C2340"/>
                </a:solidFill>
                <a:latin typeface="Urbanist"/>
              </a:defRPr>
            </a:pPr>
            <a:r>
              <a:t>Environments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2185416" y="2944368"/>
            <a:ext cx="222199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60" b="0">
                <a:solidFill>
                  <a:srgbClr val="252525"/>
                </a:solidFill>
                <a:latin typeface="Urbanist"/>
              </a:defRPr>
            </a:pPr>
            <a:r>
              <a:t>Windows, Ubuntu, web apps and code/render harnesses need different runners.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713232" y="3630168"/>
            <a:ext cx="365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E87722"/>
                </a:solidFill>
                <a:latin typeface="Urbanist"/>
              </a:defRPr>
            </a:pPr>
            <a:r>
              <a:t>04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133856" y="3630168"/>
            <a:ext cx="10789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0C2340"/>
                </a:solidFill>
                <a:latin typeface="Urbanist"/>
              </a:defRPr>
            </a:pPr>
            <a:r>
              <a:t>Evaluation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2185416" y="3630168"/>
            <a:ext cx="222199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960" b="0">
                <a:solidFill>
                  <a:srgbClr val="252525"/>
                </a:solidFill>
                <a:latin typeface="Urbanist"/>
              </a:defRPr>
            </a:pPr>
            <a:r>
              <a:t>One harness must compare all tasks, benchmarks and final artifacts.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4736592" y="1261872"/>
            <a:ext cx="3730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7722"/>
                </a:solidFill>
                <a:latin typeface="Urbanist"/>
              </a:defRPr>
            </a:pPr>
            <a:r>
              <a:t>NEXT STEPS</a:t>
            </a:r>
          </a:p>
        </p:txBody>
      </p:sp>
      <p:sp>
        <p:nvSpPr>
          <p:cNvPr id="598" name="Oval 597"/>
          <p:cNvSpPr/>
          <p:nvPr/>
        </p:nvSpPr>
        <p:spPr>
          <a:xfrm>
            <a:off x="4736592" y="1554480"/>
            <a:ext cx="393192" cy="393192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4736592" y="1591056"/>
            <a:ext cx="3931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Urbanist"/>
              </a:defRPr>
            </a:pPr>
            <a:r>
              <a:t>1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5285232" y="1554480"/>
            <a:ext cx="3154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C2340"/>
                </a:solidFill>
                <a:latin typeface="Urbanist"/>
              </a:defRPr>
            </a:pPr>
            <a:r>
              <a:t>Finalize the task list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5285232" y="1837943"/>
            <a:ext cx="3154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52525"/>
                </a:solidFill>
                <a:latin typeface="Urbanist"/>
              </a:defRPr>
            </a:pPr>
            <a:r>
              <a:t>Export the approved set as the benchmark seed.</a:t>
            </a:r>
          </a:p>
        </p:txBody>
      </p:sp>
      <p:sp>
        <p:nvSpPr>
          <p:cNvPr id="602" name="Oval 601"/>
          <p:cNvSpPr/>
          <p:nvPr/>
        </p:nvSpPr>
        <p:spPr>
          <a:xfrm>
            <a:off x="4736592" y="2496312"/>
            <a:ext cx="393192" cy="393192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736592" y="2532888"/>
            <a:ext cx="3931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Urbanist"/>
              </a:defRPr>
            </a:pPr>
            <a:r>
              <a:t>2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5285232" y="2496312"/>
            <a:ext cx="3154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C2340"/>
                </a:solidFill>
                <a:latin typeface="Urbanist"/>
              </a:defRPr>
            </a:pPr>
            <a:r>
              <a:t>Prefer open software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5285232" y="2779776"/>
            <a:ext cx="3154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52525"/>
                </a:solidFill>
                <a:latin typeface="Urbanist"/>
              </a:defRPr>
            </a:pPr>
            <a:r>
              <a:t>Use Figma, GIMP, FreeCAD, LibreOffice, Inkscape, Scratch and web frameworks where possible.</a:t>
            </a:r>
          </a:p>
        </p:txBody>
      </p:sp>
      <p:sp>
        <p:nvSpPr>
          <p:cNvPr id="606" name="Oval 605"/>
          <p:cNvSpPr/>
          <p:nvPr/>
        </p:nvSpPr>
        <p:spPr>
          <a:xfrm>
            <a:off x="4736592" y="3438144"/>
            <a:ext cx="393192" cy="393192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4736592" y="3474720"/>
            <a:ext cx="39319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Urbanist"/>
              </a:defRPr>
            </a:pPr>
            <a:r>
              <a:t>3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5285232" y="3438144"/>
            <a:ext cx="3154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C2340"/>
                </a:solidFill>
                <a:latin typeface="Urbanist"/>
              </a:defRPr>
            </a:pPr>
            <a:r>
              <a:t>Build one harness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5285232" y="3721607"/>
            <a:ext cx="3154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52525"/>
                </a:solidFill>
                <a:latin typeface="Urbanist"/>
              </a:defRPr>
            </a:pPr>
            <a:r>
              <a:t>Run the shared-canvas agent across every selected task and benchmark.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1"/>
          <p:cNvSpPr txBox="1"/>
          <p:nvPr>
            <p:ph type="ctrTitle"/>
          </p:nvPr>
        </p:nvSpPr>
        <p:spPr>
          <a:xfrm>
            <a:off x="1143000" y="1081274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Computer-Use Benchmark Landscape</dc:title>
  <dc:subject>Domains, software, and shared-canvas suitability</dc:subject>
  <dc:creator>Benchmark Tasks Project</dc:creator>
</cp:coreProperties>
</file>